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46f63564849d0" /><Relationship Type="http://schemas.openxmlformats.org/officeDocument/2006/relationships/extended-properties" Target="/docProps/app.xml" Id="R577fbebf52a64344" /><Relationship Type="http://schemas.openxmlformats.org/officeDocument/2006/relationships/officeDocument" Target="/ppt/presentation.xml" Id="Raa210c0e295848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69eb55edc54745"/>
  </p:sldMasterIdLst>
  <p:notesMasterIdLst>
    <p:notesMasterId xmlns:r="http://schemas.openxmlformats.org/officeDocument/2006/relationships" r:id="R8690eebdd0da46b2"/>
  </p:notesMasterIdLst>
  <p:sldIdLst>
    <p:sldId xmlns:r="http://schemas.openxmlformats.org/officeDocument/2006/relationships" id="256" r:id="R573d245b3a4c4be8"/>
    <p:sldId xmlns:r="http://schemas.openxmlformats.org/officeDocument/2006/relationships" id="257" r:id="R8b7cf08b0bff4005"/>
    <p:sldId xmlns:r="http://schemas.openxmlformats.org/officeDocument/2006/relationships" id="258" r:id="R11429a6c69754b8f"/>
    <p:sldId xmlns:r="http://schemas.openxmlformats.org/officeDocument/2006/relationships" id="259" r:id="Rc5971996a0f248b7"/>
    <p:sldId xmlns:r="http://schemas.openxmlformats.org/officeDocument/2006/relationships" id="260" r:id="Rc76444314bdf41c1"/>
    <p:sldId xmlns:r="http://schemas.openxmlformats.org/officeDocument/2006/relationships" id="261" r:id="R9a9dd9d8e5f14f64"/>
    <p:sldId xmlns:r="http://schemas.openxmlformats.org/officeDocument/2006/relationships" id="262" r:id="Re4a14df6e8054378"/>
    <p:sldId xmlns:r="http://schemas.openxmlformats.org/officeDocument/2006/relationships" id="263" r:id="R0118c0651cbd4bb2"/>
    <p:sldId xmlns:r="http://schemas.openxmlformats.org/officeDocument/2006/relationships" id="264" r:id="R1a08ffe0792e4ca8"/>
    <p:sldId xmlns:r="http://schemas.openxmlformats.org/officeDocument/2006/relationships" id="265" r:id="R8389c9cf17484f6c"/>
    <p:sldId xmlns:r="http://schemas.openxmlformats.org/officeDocument/2006/relationships" id="266" r:id="Rc3bf7efb4a7b4ef3"/>
    <p:sldId xmlns:r="http://schemas.openxmlformats.org/officeDocument/2006/relationships" id="267" r:id="R9e963dbd667d40fe"/>
    <p:sldId xmlns:r="http://schemas.openxmlformats.org/officeDocument/2006/relationships" id="268" r:id="R71796fbdb3044916"/>
    <p:sldId xmlns:r="http://schemas.openxmlformats.org/officeDocument/2006/relationships" id="269" r:id="R96a8b6a5e8d24efa"/>
    <p:sldId xmlns:r="http://schemas.openxmlformats.org/officeDocument/2006/relationships" id="270" r:id="R92192c66fac34ed6"/>
    <p:sldId xmlns:r="http://schemas.openxmlformats.org/officeDocument/2006/relationships" id="271" r:id="Rb01347b0d2b7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9d58ae6be24100" /><Relationship Type="http://schemas.openxmlformats.org/officeDocument/2006/relationships/slideMaster" Target="/ppt/slideMasters/slideMaster1.xml" Id="R5969eb55edc54745" /><Relationship Type="http://schemas.openxmlformats.org/officeDocument/2006/relationships/notesMaster" Target="/ppt/notesMasters/notesMaster1.xml" Id="R8690eebdd0da46b2" /><Relationship Type="http://schemas.openxmlformats.org/officeDocument/2006/relationships/presProps" Target="/ppt/presProps.xml" Id="R5bba10f5e5ef43e8" /><Relationship Type="http://schemas.openxmlformats.org/officeDocument/2006/relationships/tableStyles" Target="/ppt/tableStyles.xml" Id="R0bf717186bf54b5b" /><Relationship Type="http://schemas.openxmlformats.org/officeDocument/2006/relationships/slide" Target="/ppt/slides/slide1.xml" Id="R573d245b3a4c4be8" /><Relationship Type="http://schemas.openxmlformats.org/officeDocument/2006/relationships/slide" Target="/ppt/slides/slide2.xml" Id="R8b7cf08b0bff4005" /><Relationship Type="http://schemas.openxmlformats.org/officeDocument/2006/relationships/slide" Target="/ppt/slides/slide3.xml" Id="R11429a6c69754b8f" /><Relationship Type="http://schemas.openxmlformats.org/officeDocument/2006/relationships/slide" Target="/ppt/slides/slide4.xml" Id="Rc5971996a0f248b7" /><Relationship Type="http://schemas.openxmlformats.org/officeDocument/2006/relationships/slide" Target="/ppt/slides/slide5.xml" Id="Rc76444314bdf41c1" /><Relationship Type="http://schemas.openxmlformats.org/officeDocument/2006/relationships/slide" Target="/ppt/slides/slide6.xml" Id="R9a9dd9d8e5f14f64" /><Relationship Type="http://schemas.openxmlformats.org/officeDocument/2006/relationships/slide" Target="/ppt/slides/slide7.xml" Id="Re4a14df6e8054378" /><Relationship Type="http://schemas.openxmlformats.org/officeDocument/2006/relationships/slide" Target="/ppt/slides/slide8.xml" Id="R0118c0651cbd4bb2" /><Relationship Type="http://schemas.openxmlformats.org/officeDocument/2006/relationships/slide" Target="/ppt/slides/slide9.xml" Id="R1a08ffe0792e4ca8" /><Relationship Type="http://schemas.openxmlformats.org/officeDocument/2006/relationships/slide" Target="/ppt/slides/slide10.xml" Id="R8389c9cf17484f6c" /><Relationship Type="http://schemas.openxmlformats.org/officeDocument/2006/relationships/slide" Target="/ppt/slides/slide11.xml" Id="Rc3bf7efb4a7b4ef3" /><Relationship Type="http://schemas.openxmlformats.org/officeDocument/2006/relationships/slide" Target="/ppt/slides/slide12.xml" Id="R9e963dbd667d40fe" /><Relationship Type="http://schemas.openxmlformats.org/officeDocument/2006/relationships/slide" Target="/ppt/slides/slide13.xml" Id="R71796fbdb3044916" /><Relationship Type="http://schemas.openxmlformats.org/officeDocument/2006/relationships/slide" Target="/ppt/slides/slide14.xml" Id="R96a8b6a5e8d24efa" /><Relationship Type="http://schemas.openxmlformats.org/officeDocument/2006/relationships/slide" Target="/ppt/slides/slide15.xml" Id="R92192c66fac34ed6" /><Relationship Type="http://schemas.openxmlformats.org/officeDocument/2006/relationships/slide" Target="/ppt/slides/slide16.xml" Id="Rb01347b0d2b7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e6b28dadec43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e0ce8082254069" /><Relationship Type="http://schemas.openxmlformats.org/officeDocument/2006/relationships/notesMaster" Target="/ppt/notesMasters/notesMaster1.xml" Id="R599f6b32c9704b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b58ed9ef674152" /><Relationship Type="http://schemas.openxmlformats.org/officeDocument/2006/relationships/notesMaster" Target="/ppt/notesMasters/notesMaster1.xml" Id="Rb298d7b530614c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79fb50aeb4fc9" /><Relationship Type="http://schemas.openxmlformats.org/officeDocument/2006/relationships/notesMaster" Target="/ppt/notesMasters/notesMaster1.xml" Id="R5c5376b58052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99cce8c38b417a" /><Relationship Type="http://schemas.openxmlformats.org/officeDocument/2006/relationships/notesMaster" Target="/ppt/notesMasters/notesMaster1.xml" Id="R78765e0c7ef4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e0a4d0e504b42" /><Relationship Type="http://schemas.openxmlformats.org/officeDocument/2006/relationships/notesMaster" Target="/ppt/notesMasters/notesMaster1.xml" Id="R585383e5b8eb43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8d98e7e32f49f2" /><Relationship Type="http://schemas.openxmlformats.org/officeDocument/2006/relationships/notesMaster" Target="/ppt/notesMasters/notesMaster1.xml" Id="Re5920f59039f44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297f6ab1384a50" /><Relationship Type="http://schemas.openxmlformats.org/officeDocument/2006/relationships/notesMaster" Target="/ppt/notesMasters/notesMaster1.xml" Id="Ra7df1383238742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9fbfd704e54c32" /><Relationship Type="http://schemas.openxmlformats.org/officeDocument/2006/relationships/notesMaster" Target="/ppt/notesMasters/notesMaster1.xml" Id="Rec05beffaaf148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ba7f52ac3749c0" /><Relationship Type="http://schemas.openxmlformats.org/officeDocument/2006/relationships/notesMaster" Target="/ppt/notesMasters/notesMaster1.xml" Id="R1672127d06c0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8566033a484717" /><Relationship Type="http://schemas.openxmlformats.org/officeDocument/2006/relationships/notesMaster" Target="/ppt/notesMasters/notesMaster1.xml" Id="Rf015e57f524a4e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929462eb8e4b8a" /><Relationship Type="http://schemas.openxmlformats.org/officeDocument/2006/relationships/notesMaster" Target="/ppt/notesMasters/notesMaster1.xml" Id="Rdd4dfd3206064d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589bcbf995425b" /><Relationship Type="http://schemas.openxmlformats.org/officeDocument/2006/relationships/notesMaster" Target="/ppt/notesMasters/notesMaster1.xml" Id="Rf41dd5d5598645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90d5590abf4b23" /><Relationship Type="http://schemas.openxmlformats.org/officeDocument/2006/relationships/notesMaster" Target="/ppt/notesMasters/notesMaster1.xml" Id="Ra6ef6dfa09a740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b0a5b60b3f4275" /><Relationship Type="http://schemas.openxmlformats.org/officeDocument/2006/relationships/notesMaster" Target="/ppt/notesMasters/notesMaster1.xml" Id="Re76c214bdd4a4f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ad7edd915842e5" /><Relationship Type="http://schemas.openxmlformats.org/officeDocument/2006/relationships/notesMaster" Target="/ppt/notesMasters/notesMaster1.xml" Id="R8aa5b21ffb0c4e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938d371d8646f4" /><Relationship Type="http://schemas.openxmlformats.org/officeDocument/2006/relationships/notesMaster" Target="/ppt/notesMasters/notesMaster1.xml" Id="Rc964bc2cb2714a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1–5. Equipe: Diogo Barbosa, Mário Brandão, Davi Maia, Christopher Lindoso e Nikolas Messias. O plano usa a base Da-Match-main.zip recebida em 05/10/2026. A apresentação descreve planejamento e revisão documental, não testes já concluídos.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5, 43. O problema e a pertinência dos critérios ainda dependem de pesquisa de campo. CT44 prevê a jornada completa, incluindo acesso aprovado, perfis publicados, explicação do matching, interesse recíproco e reunião realizada. A tela de home fornecida pela equipe é referência visual, não evidência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3, 18, 49, 70. Verificação e validação se complementam. Um teste de cálculo pode provar conformidade com a fórmula proposta. O teste de usabilidade verifica se o fundador encontra apoio, entende a indicação e manifesta interesse. O plano não registra sessões de validação já realizadas.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20, 43, 60. RF36/CT43/CA31 tratam de avisos internos ligados a eventos confirmados. O documento exclui chat, envio automático de e-mail ou push, aplicativos nativos, videochamada, operações financeiras e suíte completa de automação. A referência visual de mensagens não amplia o escopo da rodada. Match e reunião não garantem investimento ou parceria.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4, 25, 66. RF36 tem prioridade P2. RF01 a RF35 têm prioridade P1. A matriz vincula os 36 RF, 24 RNF, 30 RN e 32 CA a pelo menos um caso. Isso representa cobertura planejada por identificador, não cobertura exaustiva de combinações, aprovação nem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16–17. Seleção de 5 dos 12 riscos. RQ01 e RQ04 são críticos, com pontuação 9. RQ02, RQ06 e RQ07 têm pontuação 6. O plano também trata busca, integridade de perfis, recuperação, indisponibilidade, acessibilidade, indicadores e publicação. A avaliação inicial será revista com evidências.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18–19. O negativo é aprovado quando a recusa e a integridade dos dados estão corretas. Particionamento e tabelas de decisão orientam as variações de entrada, papel e estado. A primeira execução pode ser manual e por API. A suíte completa de automação não é compromisso desta unidade. HTTP 200 isolado não prova o resultado de negócio.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6, 10–11, 27, 42. O plano prevê ADMIN, STARTUP, MENTOR e INVESTIDOR, com um perfil de negócio por conta operacional. Acesso indevido por papel deve receber 403 e recursos particulares fora da visibilidade recebem 404. Botões ocultos não substituem controles no backend. Logout e suspensão invalidam a próxima operação protegida. Contato nunca aparece na descoberta e a preferência pode ser revogada.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14, 23, 32–34. A configuração match-1.0 é proposta inicial sujeita à aprovação para a rodada. OR01: setor 25, estágio 15, necessidades 10 e disponibilidade 25 somam 75. Localização remota e modelo vazio retiram 15 de peso, resultando em denominador 85. Resultado 88,235294..., exibição HALF_UP com uma casa decimal. Elegibilidade antecede cálculo. O corte usa o valor bruto, os empates usam ID crescente e a consulta limita a 20 candidatos. Em OR02, as faixas [50.000,100.000] e [100.000,150.000] compartilham o limite de BRL 100.000, mas a faixa que começa em 100.000,01 não é elegível. CT23 e CT63 verificam atualização e determinismo.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15, 35–40, 50. As reuniões podem estar PROPOSTAS, CONFIRMADAS, RECUSADAS, CANCELADAS ou REALIZADAS. A duração prevista vai de 15 a 120 minutos, em passos de 15. Propostas e confirmações reservam horário para ambos. Intervalos adjacentes são permitidos. Realização só ocorre após o término de reunião confirmada. Suspensão ou encerramento afetam reuniões futuras sem apagar o histórico. O registro de realizada não comprova investimento.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11, 49. A meta de pelo menos 4 de 5 em até 5 minutos é inicial e será ratificada antes da rodada. A pré-condição é protótipo navegável ou sistema integrado com busca, explicação e interesse. O avaliador apresenta a tarefa sem demonstrar o percurso. Evidência prevista: ficha anonimizada por participante, tempos e síntese de achados. Não existe resultado observado antes da sessão.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10–12, 44, 48–53. As metas precisam de ratificação antes das rodadas e não se extrapolam para produção. A carga de busca usa 500 perfis e páginas de 20. O matching tem duas massas, com 500 mentores ou 500 investidores por startup. Aquecimento de 1 minuto fica fora da medição de 5 minutos. RNF13 prevê checklist de critérios aplicáveis A/AA da WCAG 2.2, sem afirmar certificação. RNF15 cobre Chrome, Edge e Firefox, versões estável e anterior na homologação. RNF23 prevê cobertura de linhas de código novo de 80% por módulo, controles de lint, testes e arquitetura, e bloqueio por achados críticos ou altos. RPO 24 h e RTO 2 h são objetivos iniciais de recuperação.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32, 36, 57–58, 61–66. A matriz da fonte vincula todos os IDs RF, RNF, RN e CA. Esta tabela é uma seleção dos vínculos, não a matriz completa. CT18 inclui outras regras de elegibilidade e limites. CT27 também vincula RF20 e RNF17. CT33 também vincula RF05 e RN20. As relações apresentadas são subconjuntos verdadeiros para explicar o mecanismo. A base tem cobertura documental por identificador, mas permanece com lacuna de evidência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20–24, 67–68. A sequência não fixa datas fictícias. Para começar: requisito, regra, critério e contrato revisados, versão implementada, dependências, massa, configuração do matching e resultado esperado independente disponíveis. R1 exige mentor de referência publicado e contas vinculadas. Caso impedido permanece Não Executado com motivo e replanejamento. R1 não representa aceite completo do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5, 66–68. A fonte registra zero aprovados, zero reprovados e 65 Não Executados. EV-DOC01 a EV-DOC04 são observações estáticas, não execuções nem vulnerabilidades exploradas. A revisão de CORS foi feita sobre a base recebida, com allowedOriginPatterns("*") e allowCredentials(true). O health reporta UP sem conferir banco e identidade. Esses achados se limitam ao arquivo recebido em 05/10/2026 e devem ser reavaliados por commit na futura rodada. A ausência de versão integrada impede o aceite do comportamento.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Equipe DaMatch. Plano Inicial de Testes e Qualidade. DAMATCH-PTQ-001, versão 1.0, 05/10/2026, páginas 21, 24, 68–69. Um P1 crítico impedido mantém o módulo sem aceite. Pendências de menor severidade precisam de decisão registrada. O ciclo de defeitos segue identificação, triagem, correção, reteste e regressão, sem apagar resultados anteriores. Cada execução registra RUN, CT, data, executor, commit/build, ambiente, massa, esperado, obtido, status e defeito. Evidências ocultam credenciais e sessão. Christopher Lindoso e Mário Brandão ratificam matching. Mário e Diogo definem sessão e API. Diogo, Mário e Davi preparam ambiente. Christopher e Nikolas organizam a validação com 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1ad97b2b445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db6040ac945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d142b109c42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35df571c544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c7a073b8f41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e623cb6f84f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8F08481-0864-4BD6-A083-F306576C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1DACE5-0C1E-4EBF-9F64-E2D253F52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3256E2E-41D4-447C-A823-0729456BF6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9D5F65F-EA6F-4FF9-93CB-5EC10967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6EDED8-343E-4CB4-B5D4-B9FB6FD3FA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AA97AB6-ADC9-4CFE-AE8C-13900C8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6D5F77-4129-40C5-A671-A4FA1023A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A3BF8F4-E98E-4BBD-AEC1-B375556814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A7480EA-6475-4292-AE5E-CDF24B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83F7E1-B5AE-4050-BBD6-B2DD3726F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AF1973-4EFB-4858-A568-A2402A1DB7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83A0CF-A5E9-44E6-B347-AB44E9E295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C6C3380-299D-4B0F-B05E-A7726BA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6E4BC4-77EA-4C06-BAC2-24284BB29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E2E7D6-33F8-48DA-A346-3A624DAA1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3bc5b24564907" /><Relationship Type="http://schemas.openxmlformats.org/officeDocument/2006/relationships/slideLayout" Target="/ppt/slideLayouts/slideLayout1.xml" Id="Rd5e32464fb7c4e9a" /><Relationship Type="http://schemas.openxmlformats.org/officeDocument/2006/relationships/slideLayout" Target="/ppt/slideLayouts/slideLayout2.xml" Id="R0637d285d5fc4165" /><Relationship Type="http://schemas.openxmlformats.org/officeDocument/2006/relationships/slideLayout" Target="/ppt/slideLayouts/slideLayout3.xml" Id="R50047f3eb7f044fa" /><Relationship Type="http://schemas.openxmlformats.org/officeDocument/2006/relationships/slideLayout" Target="/ppt/slideLayouts/slideLayout4.xml" Id="R46c55a3120b94756" /><Relationship Type="http://schemas.openxmlformats.org/officeDocument/2006/relationships/slideLayout" Target="/ppt/slideLayouts/slideLayout5.xml" Id="Rdb677dfdd70942b1" /><Relationship Type="http://schemas.openxmlformats.org/officeDocument/2006/relationships/slideLayout" Target="/ppt/slideLayouts/slideLayout6.xml" Id="R676f113d66744f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e32464fb7c4e9a"/>
    <p:sldLayoutId xmlns:r="http://schemas.openxmlformats.org/officeDocument/2006/relationships" id="2147483650" r:id="R0637d285d5fc4165"/>
    <p:sldLayoutId xmlns:r="http://schemas.openxmlformats.org/officeDocument/2006/relationships" id="2147483651" r:id="R50047f3eb7f044fa"/>
    <p:sldLayoutId xmlns:r="http://schemas.openxmlformats.org/officeDocument/2006/relationships" id="2147483652" r:id="R46c55a3120b94756"/>
    <p:sldLayoutId xmlns:r="http://schemas.openxmlformats.org/officeDocument/2006/relationships" id="2147483653" r:id="Rdb677dfdd70942b1"/>
    <p:sldLayoutId xmlns:r="http://schemas.openxmlformats.org/officeDocument/2006/relationships" id="2147483654" r:id="R676f113d6674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36aee344a43e8" /><Relationship Type="http://schemas.openxmlformats.org/officeDocument/2006/relationships/notesSlide" Target="/ppt/notesSlides/notesSlide1.xml" Id="Racbbb552cc0940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cd4a89dd04a59" /><Relationship Type="http://schemas.openxmlformats.org/officeDocument/2006/relationships/image" Target="/ppt/media/image.png" Id="R8a534c31cf574dfd" /><Relationship Type="http://schemas.openxmlformats.org/officeDocument/2006/relationships/notesSlide" Target="/ppt/notesSlides/notesSlide2.xml" Id="R4d2bd1401039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3e52172eb4364" /><Relationship Type="http://schemas.openxmlformats.org/officeDocument/2006/relationships/notesSlide" Target="/ppt/notesSlides/notesSlide3.xml" Id="Rf44fb6d58eab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49012f4619453d" /><Relationship Type="http://schemas.openxmlformats.org/officeDocument/2006/relationships/image" Target="/ppt/media/image2.png" Id="R3cf8d728dc9543b5" /><Relationship Type="http://schemas.openxmlformats.org/officeDocument/2006/relationships/notesSlide" Target="/ppt/notesSlides/notesSlide4.xml" Id="R2212abe9acea45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38e4f3a0e408a" /><Relationship Type="http://schemas.openxmlformats.org/officeDocument/2006/relationships/notesSlide" Target="/ppt/notesSlides/notesSlide5.xml" Id="R60b24324fb3742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bbad66bfc4f37" /><Relationship Type="http://schemas.openxmlformats.org/officeDocument/2006/relationships/notesSlide" Target="/ppt/notesSlides/notesSlide6.xml" Id="Rfaba94c1c9d24e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4a4aa10e84ce7" /><Relationship Type="http://schemas.openxmlformats.org/officeDocument/2006/relationships/notesSlide" Target="/ppt/notesSlides/notesSlide7.xml" Id="Rc043b5a477d242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c9b2a39e34dcd" /><Relationship Type="http://schemas.openxmlformats.org/officeDocument/2006/relationships/image" Target="/ppt/media/image3.png" Id="Rb3d2a36bda4e4996" /><Relationship Type="http://schemas.openxmlformats.org/officeDocument/2006/relationships/notesSlide" Target="/ppt/notesSlides/notesSlide8.xml" Id="Rba9bbaa70f5343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69996c8be4dfa" /><Relationship Type="http://schemas.openxmlformats.org/officeDocument/2006/relationships/notesSlide" Target="/ppt/notesSlides/notesSlide9.xml" Id="R24efd37a07b243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7b4fc0cd440d0" /><Relationship Type="http://schemas.openxmlformats.org/officeDocument/2006/relationships/notesSlide" Target="/ppt/notesSlides/notesSlide10.xml" Id="R596aa3ab032443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bad5c07e14c5b" /><Relationship Type="http://schemas.openxmlformats.org/officeDocument/2006/relationships/notesSlide" Target="/ppt/notesSlides/notesSlide11.xml" Id="R61f701333aa548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c8bb5c6e5404c" /><Relationship Type="http://schemas.openxmlformats.org/officeDocument/2006/relationships/notesSlide" Target="/ppt/notesSlides/notesSlide12.xml" Id="R0d072e1c1b0d40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8a08915234e99" /><Relationship Type="http://schemas.openxmlformats.org/officeDocument/2006/relationships/notesSlide" Target="/ppt/notesSlides/notesSlide13.xml" Id="R800a3221aa3343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04a0d496940d1" /><Relationship Type="http://schemas.openxmlformats.org/officeDocument/2006/relationships/notesSlide" Target="/ppt/notesSlides/notesSlide14.xml" Id="Rd8a2f58707934d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032f815684c88" /><Relationship Type="http://schemas.openxmlformats.org/officeDocument/2006/relationships/notesSlide" Target="/ppt/notesSlides/notesSlide15.xml" Id="Rcde3bb81e73142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12a42db054f28" /><Relationship Type="http://schemas.openxmlformats.org/officeDocument/2006/relationships/notesSlide" Target="/ppt/notesSlides/notesSlide16.xml" Id="Rf0f33c269bd243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96F50A4B-9FB6-46BF-8590-B3E4EADA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ECDC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8CECDC"/>
                </a:solidFill>
                <a:latin typeface="Nimbus Sans"/>
                <a:ea typeface="Nimbus Sans"/>
                <a:cs typeface="Nimbus Sans"/>
              </a:rPr>
              <a:t>DaMatch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FD5FCBB-7AF0-4172-AEC6-9C038B8D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60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Validação do</a:t>
            </a:r>
          </a:p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60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DaMatch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25DBF68-3253-44CE-98D5-F8F348A3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8CECDC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8CECDC"/>
                </a:solidFill>
                <a:latin typeface="Nimbus Sans"/>
                <a:ea typeface="Nimbus Sans"/>
                <a:cs typeface="Nimbus Sans"/>
              </a:rPr>
              <a:t>Plano inicial de testes e qualidade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9411A94-6066-41FB-B54B-AC2C9284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Verificação e Validação de Software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ADS, Faculdade Senac Pernambuco, 2026.2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4BAB2A5-4564-42D8-A6ED-AEAE6E0F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CD5E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BCD5E0"/>
                </a:solidFill>
                <a:latin typeface="Nimbus Sans"/>
                <a:ea typeface="Nimbus Sans"/>
                <a:cs typeface="Nimbus Sans"/>
              </a:rPr>
              <a:t>Base documental: DAMATCH-PTQ-001 v1.0, 05/10/2026</a:t>
            </a:r>
          </a:p>
        </p:txBody>
      </p:sp>
    </p:spTree>
    <p:extLst>
      <p:ext uri="{BB962C8B-B14F-4D97-AF65-F5344CB8AC3E}">
        <p14:creationId xmlns:p14="http://schemas.microsoft.com/office/powerpoint/2010/main" val="309335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CB12D209-A105-4D85-A92A-377D2790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Produto e jornada principal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5ECCB0ED-8627-4272-BD40-7F0C26DA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5, 43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9F644862-F564-42BC-A387-0D5FEC65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34c31cf574dfd"/>
          <a:stretch xmlns:a="http://schemas.openxmlformats.org/drawingml/2006/main"/>
        </p:blipFill>
        <p:spPr>
          <a:xfrm xmlns:a="http://schemas.openxmlformats.org/drawingml/2006/main">
            <a:off x="610522" y="1657350"/>
            <a:ext cx="6818056" cy="4267200"/>
          </a:xfrm>
          <a:prstGeom xmlns:a="http://schemas.openxmlformats.org/drawingml/2006/main" prst="rect">
            <a:avLst/>
          </a:prstGeom>
        </p:spPr>
      </p:pic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24541A00-B798-4C18-9AA5-78D77051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Público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6C16CE3C-B870-456E-A489-9EF196E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76450"/>
            <a:ext cx="373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Startups, mentores e investidores do Recife e do Nordeste.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80E585E7-DE8D-4BD8-93C0-82A21150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2420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Necessidade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9BB3CA5E-4D38-4D06-A116-41908B46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43300"/>
            <a:ext cx="373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Encontrar apoio compatível com setor, estágio e objetivo.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77609C7A-CFA1-4A6A-AA58-4C149972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529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Jornada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C8076BDF-D922-4158-A8E9-9207F1E9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72050"/>
            <a:ext cx="3733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Localizar apoio, entender a indicação, conectar e organizar uma reunião.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D8BE26C5-0385-4BB6-BA30-16D8AF8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681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Referência visual do projeto. Perfis e pontuações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2064581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6">
            <a:extLst xmlns:a="http://schemas.openxmlformats.org/drawingml/2006/main">
              <a:ext uri="{FF2B5EF4-FFF2-40B4-BE49-F238E27FC236}">
                <a16:creationId xmlns:a16="http://schemas.microsoft.com/office/drawing/2014/main" id="{6DC68999-B621-421F-911A-DA78EB45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Verificação e validação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E589CC2A-D4D0-4BE0-87A7-7AD07B6C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3, 18, 49, 70</a:t>
            </a:r>
          </a:p>
        </p:txBody>
      </p:sp>
      <p:sp>
        <p:nvSpPr>
          <p:cNvPr id="3" name="text-18">
            <a:extLst xmlns:a="http://schemas.openxmlformats.org/drawingml/2006/main">
              <a:ext uri="{FF2B5EF4-FFF2-40B4-BE49-F238E27FC236}">
                <a16:creationId xmlns:a16="http://schemas.microsoft.com/office/drawing/2014/main" id="{481637FA-C154-474F-82B4-208AE38A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4" name="text-19">
            <a:extLst xmlns:a="http://schemas.openxmlformats.org/drawingml/2006/main">
              <a:ext uri="{FF2B5EF4-FFF2-40B4-BE49-F238E27FC236}">
                <a16:creationId xmlns:a16="http://schemas.microsoft.com/office/drawing/2014/main" id="{635BB9D0-C405-4769-99D9-3F9D808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Verificação</a:t>
            </a:r>
          </a:p>
        </p:txBody>
      </p:sp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AB8E3BC3-8688-4E46-904E-88EC07E9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93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O comportamento segue os requisitos e as regras?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CB621F5D-AE60-4725-BCF4-41941CF5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339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Comparação com resultados esperados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Testes de API e permissões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Cálculo independente do matching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Persistência e transições de estado</a:t>
            </a:r>
          </a:p>
        </p:txBody>
      </p:sp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7DC1FB59-5204-41EF-BEEF-D222DB97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240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Validação</a:t>
            </a:r>
          </a:p>
        </p:txBody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2FB1EEF6-DA9B-47F0-AD6D-D261A037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431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 jornada atende às necessidades de uso?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B96B1C30-D53D-4276-A48A-9EC107D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5143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Tarefas com participantes do público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Observação de dúvidas e obstáculos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Compreensão da compatibilidade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Revisão do aceite com o Product Owner</a:t>
            </a:r>
          </a:p>
        </p:txBody>
      </p:sp>
    </p:spTree>
    <p:extLst>
      <p:ext uri="{BB962C8B-B14F-4D97-AF65-F5344CB8AC3E}">
        <p14:creationId xmlns:p14="http://schemas.microsoft.com/office/powerpoint/2010/main" val="1336177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5">
            <a:extLst xmlns:a="http://schemas.openxmlformats.org/drawingml/2006/main">
              <a:ext uri="{FF2B5EF4-FFF2-40B4-BE49-F238E27FC236}">
                <a16:creationId xmlns:a16="http://schemas.microsoft.com/office/drawing/2014/main" id="{81EA7DE3-BE75-4C12-AC8F-5408DEF5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Escopo desta etapa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BBAE431F-538B-44AF-8FBE-723200A8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20, 43, 60</a:t>
            </a:r>
          </a:p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19675914-A64C-4430-8F87-925685C3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729F2C88-59C3-41BF-A997-56FFF8E6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Fluxos previstos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0AACB7BF-7A49-4347-8C55-C886D1C4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686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Acesso e perfis</a:t>
            </a:r>
          </a:p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Busca e recomendações</a:t>
            </a:r>
          </a:p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Interesses e conexões</a:t>
            </a:r>
          </a:p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Reuniões, privacidade e administração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60A9EBE4-2876-42CC-BE58-B6DE50C7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Limites do plano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75641AD5-E7E0-475A-B057-459CE154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6863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Chat livre, pagamentos e videochamada ficam fora desta etapa.</a:t>
            </a:r>
          </a:p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Avisos internos têm prioridade P2 e dependem de implementação.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d728dc9543b5"/>
          <a:stretch xmlns:a="http://schemas.openxmlformats.org/drawingml/2006/main"/>
        </p:blipFill>
        <p:spPr>
          <a:xfrm xmlns:a="http://schemas.openxmlformats.org/drawingml/2006/main">
            <a:off x="5715000" y="1678617"/>
            <a:ext cx="5867400" cy="3672215"/>
          </a:xfrm>
          <a:prstGeom xmlns:a="http://schemas.openxmlformats.org/drawingml/2006/main" prst="rect">
            <a:avLst/>
          </a:prstGeom>
        </p:spPr>
      </p:pic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4BA4289E-CE6F-4F71-BB3F-3C89A134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5307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O design mostra chat. O plano inicial testa avisos de eventos, sem mensagens livres.</a:t>
            </a:r>
          </a:p>
        </p:txBody>
      </p:sp>
    </p:spTree>
    <p:extLst>
      <p:ext uri="{BB962C8B-B14F-4D97-AF65-F5344CB8AC3E}">
        <p14:creationId xmlns:p14="http://schemas.microsoft.com/office/powerpoint/2010/main" val="864073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C7C486A8-5C44-4CA4-BB96-4C3E2DD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Base de cobertura planejada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369D9278-7EF4-49D9-9710-A31C3325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4, 25, 66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4475FC6A-6333-43F3-82C8-0B0B622F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82F7FBBE-03A5-4CD9-9508-E1905990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36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9866706A-88BB-4222-BB50-8363E19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Requisitos funcionais</a:t>
            </a:r>
          </a:p>
        </p:txBody>
      </p:sp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193D3601-5663-438C-8A09-F56B3A4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76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24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E688ADA2-3C01-4DCE-9EE8-FAED621F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717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Requisitos não funcionais</a:t>
            </a:r>
          </a:p>
        </p:txBody>
      </p:sp>
      <p:sp>
        <p:nvSpPr>
          <p:cNvPr id="8" name="text-40">
            <a:extLst xmlns:a="http://schemas.openxmlformats.org/drawingml/2006/main">
              <a:ext uri="{FF2B5EF4-FFF2-40B4-BE49-F238E27FC236}">
                <a16:creationId xmlns:a16="http://schemas.microsoft.com/office/drawing/2014/main" id="{1AFAA71C-E342-4495-906B-2133DA4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30</a:t>
            </a:r>
          </a:p>
        </p:txBody>
      </p:sp>
      <p:sp>
        <p:nvSpPr>
          <p:cNvPr id="9" name="text-41">
            <a:extLst xmlns:a="http://schemas.openxmlformats.org/drawingml/2006/main">
              <a:ext uri="{FF2B5EF4-FFF2-40B4-BE49-F238E27FC236}">
                <a16:creationId xmlns:a16="http://schemas.microsoft.com/office/drawing/2014/main" id="{A9A292F7-40B5-4778-91A5-1791ACD0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Regras de negócio</a:t>
            </a:r>
          </a:p>
        </p:txBody>
      </p:sp>
      <p:sp>
        <p:nvSpPr>
          <p:cNvPr id="10" name="text-42">
            <a:extLst xmlns:a="http://schemas.openxmlformats.org/drawingml/2006/main">
              <a:ext uri="{FF2B5EF4-FFF2-40B4-BE49-F238E27FC236}">
                <a16:creationId xmlns:a16="http://schemas.microsoft.com/office/drawing/2014/main" id="{510C7FB3-D12C-4946-A929-1A5C569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65</a:t>
            </a:r>
          </a:p>
        </p:txBody>
      </p:sp>
      <p:sp>
        <p:nvSpPr>
          <p:cNvPr id="11" name="text-43">
            <a:extLst xmlns:a="http://schemas.openxmlformats.org/drawingml/2006/main">
              <a:ext uri="{FF2B5EF4-FFF2-40B4-BE49-F238E27FC236}">
                <a16:creationId xmlns:a16="http://schemas.microsoft.com/office/drawing/2014/main" id="{E1525035-993D-4965-A1B7-BD46F3C2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Casos de teste</a:t>
            </a:r>
          </a:p>
        </p:txBody>
      </p:sp>
      <p:sp>
        <p:nvSpPr>
          <p:cNvPr id="12" name="text-44">
            <a:extLst xmlns:a="http://schemas.openxmlformats.org/drawingml/2006/main">
              <a:ext uri="{FF2B5EF4-FFF2-40B4-BE49-F238E27FC236}">
                <a16:creationId xmlns:a16="http://schemas.microsoft.com/office/drawing/2014/main" id="{F0FFFBDF-1F00-4DCE-A13A-8F3E6227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099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32</a:t>
            </a:r>
          </a:p>
        </p:txBody>
      </p:sp>
      <p:sp>
        <p:nvSpPr>
          <p:cNvPr id="13" name="text-45">
            <a:extLst xmlns:a="http://schemas.openxmlformats.org/drawingml/2006/main">
              <a:ext uri="{FF2B5EF4-FFF2-40B4-BE49-F238E27FC236}">
                <a16:creationId xmlns:a16="http://schemas.microsoft.com/office/drawing/2014/main" id="{14A408BB-5A41-455A-8493-312A6634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0532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Critérios de aceitação</a:t>
            </a:r>
          </a:p>
        </p:txBody>
      </p:sp>
      <p:sp>
        <p:nvSpPr>
          <p:cNvPr id="14" name="text-46">
            <a:extLst xmlns:a="http://schemas.openxmlformats.org/drawingml/2006/main">
              <a:ext uri="{FF2B5EF4-FFF2-40B4-BE49-F238E27FC236}">
                <a16:creationId xmlns:a16="http://schemas.microsoft.com/office/drawing/2014/main" id="{B8D1EEF0-DD85-4713-87BA-24BC23B1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99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15" name="text-47">
            <a:extLst xmlns:a="http://schemas.openxmlformats.org/drawingml/2006/main">
              <a:ext uri="{FF2B5EF4-FFF2-40B4-BE49-F238E27FC236}">
                <a16:creationId xmlns:a16="http://schemas.microsoft.com/office/drawing/2014/main" id="{0E9332A8-C436-4CC1-830D-42B84D30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0532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Riscos de qualidade</a:t>
            </a:r>
          </a:p>
        </p:txBody>
      </p:sp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9C4641C5-E3F7-4839-9D1A-963479A3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44 casos funcionais e de jornada, mais 21 verificações transversais.</a:t>
            </a:r>
          </a:p>
          <a:p xmlns:a="http://schemas.openxmlformats.org/drawingml/2006/main">
            <a:pPr algn="l">
              <a:def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Os vínculos cobrem todos os IDs da base. A execução registrada é 0 de 65.</a:t>
            </a:r>
          </a:p>
        </p:txBody>
      </p:sp>
    </p:spTree>
    <p:extLst>
      <p:ext uri="{BB962C8B-B14F-4D97-AF65-F5344CB8AC3E}">
        <p14:creationId xmlns:p14="http://schemas.microsoft.com/office/powerpoint/2010/main" val="1512429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9">
            <a:extLst xmlns:a="http://schemas.openxmlformats.org/drawingml/2006/main">
              <a:ext uri="{FF2B5EF4-FFF2-40B4-BE49-F238E27FC236}">
                <a16:creationId xmlns:a16="http://schemas.microsoft.com/office/drawing/2014/main" id="{D3AD8F5E-A6AA-41ED-966A-5FB24BDF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Riscos que orientam a prioridade</a:t>
            </a:r>
          </a:p>
        </p:txBody>
      </p:sp>
      <p:sp>
        <p:nvSpPr>
          <p:cNvPr id="2" name="text-50">
            <a:extLst xmlns:a="http://schemas.openxmlformats.org/drawingml/2006/main">
              <a:ext uri="{FF2B5EF4-FFF2-40B4-BE49-F238E27FC236}">
                <a16:creationId xmlns:a16="http://schemas.microsoft.com/office/drawing/2014/main" id="{88AE1E1C-FA2C-422F-80D5-B4C67F6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16-17</a:t>
            </a:r>
          </a:p>
        </p:txBody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85085240-CE81-4480-849A-182D7148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1857375"/>
                <a:gridCol w="5876925"/>
              </a:tblGrid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Risco selecionado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Atenção inicial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Resposta de teste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Acesso indevido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Crítica, 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Papel, propriedade, sessão e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Matching incorreto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Crítica, 9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Cálculo independente, corte e versão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Dados privados expostos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Alta, 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Campos da API e preferência de contato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Conexões duplicadas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Alta, 6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Reciprocidade e chamadas concorrentes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Agenda inconsistente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Alta, 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Aceite, conflitos, estados e fusos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52">
            <a:extLst xmlns:a="http://schemas.openxmlformats.org/drawingml/2006/main">
              <a:ext uri="{FF2B5EF4-FFF2-40B4-BE49-F238E27FC236}">
                <a16:creationId xmlns:a16="http://schemas.microsoft.com/office/drawing/2014/main" id="{CB9D36CC-F99E-40E8-9F1E-3AA7B358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Atenção = probabilidade × impacto. Cada fator usa escala de 1 a 3.</a:t>
            </a:r>
          </a:p>
          <a:p xmlns:a="http://schemas.openxmlformats.org/drawingml/2006/main">
            <a:pPr algn="l">
              <a:def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Prioridade de teste e severidade de defeito têm funções diferentes.</a:t>
            </a:r>
          </a:p>
        </p:txBody>
      </p:sp>
    </p:spTree>
    <p:extLst>
      <p:ext uri="{BB962C8B-B14F-4D97-AF65-F5344CB8AC3E}">
        <p14:creationId xmlns:p14="http://schemas.microsoft.com/office/powerpoint/2010/main" val="279720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3">
            <a:extLst xmlns:a="http://schemas.openxmlformats.org/drawingml/2006/main">
              <a:ext uri="{FF2B5EF4-FFF2-40B4-BE49-F238E27FC236}">
                <a16:creationId xmlns:a16="http://schemas.microsoft.com/office/drawing/2014/main" id="{11518680-2AB9-47D7-B5F9-9EBD9BBA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Estratégia de testes</a:t>
            </a:r>
          </a:p>
        </p:txBody>
      </p:sp>
      <p:sp>
        <p:nvSpPr>
          <p:cNvPr id="2" name="text-54">
            <a:extLst xmlns:a="http://schemas.openxmlformats.org/drawingml/2006/main">
              <a:ext uri="{FF2B5EF4-FFF2-40B4-BE49-F238E27FC236}">
                <a16:creationId xmlns:a16="http://schemas.microsoft.com/office/drawing/2014/main" id="{EE63FB98-B1A4-46BF-8F40-BE19DC19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18-19</a:t>
            </a:r>
          </a:p>
        </p:txBody>
      </p:sp>
      <p:sp>
        <p:nvSpPr>
          <p:cNvPr id="3" name="text-55">
            <a:extLst xmlns:a="http://schemas.openxmlformats.org/drawingml/2006/main">
              <a:ext uri="{FF2B5EF4-FFF2-40B4-BE49-F238E27FC236}">
                <a16:creationId xmlns:a16="http://schemas.microsoft.com/office/drawing/2014/main" id="{3DF6F77E-9C00-4FAA-A69B-35C8ADCE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7791450"/>
              </a:tblGrid>
              <a:tr h="7429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Camada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 que a equipe verifica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</a:tr>
              <a:tr h="7429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Documentos e regras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Coerência, testabilidade, permissões e critérios de aceite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Lógica e API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Cálculos, limites, filtros, contratos e recusas autorizadas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7429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Integração e sistema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Dependências, dados persistidos e jornada completa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Aceitação e uso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Tarefas com o público e revisão com o Product Owner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</a:tbl>
          </a:graphicData>
        </a:graphic>
      </p:graphicFrame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194DAB59-EB9C-4758-8FC5-F334D6D4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Cenários positivos e negativos, valores-limite, transições de estado</a:t>
            </a:r>
          </a:p>
          <a:p xmlns:a="http://schemas.openxmlformats.org/drawingml/2006/main">
            <a:pPr algn="l">
              <a:defRPr sz="187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e concorrência complementam testes exploratórios e não funcionais.</a:t>
            </a:r>
          </a:p>
        </p:txBody>
      </p:sp>
    </p:spTree>
    <p:extLst>
      <p:ext uri="{BB962C8B-B14F-4D97-AF65-F5344CB8AC3E}">
        <p14:creationId xmlns:p14="http://schemas.microsoft.com/office/powerpoint/2010/main" val="1393857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7">
            <a:extLst xmlns:a="http://schemas.openxmlformats.org/drawingml/2006/main">
              <a:ext uri="{FF2B5EF4-FFF2-40B4-BE49-F238E27FC236}">
                <a16:creationId xmlns:a16="http://schemas.microsoft.com/office/drawing/2014/main" id="{DC4D0731-8941-4F4E-B02C-5EECDA26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Acesso e privacidade</a:t>
            </a:r>
          </a:p>
        </p:txBody>
      </p:sp>
      <p:sp>
        <p:nvSpPr>
          <p:cNvPr id="2" name="text-58">
            <a:extLst xmlns:a="http://schemas.openxmlformats.org/drawingml/2006/main">
              <a:ext uri="{FF2B5EF4-FFF2-40B4-BE49-F238E27FC236}">
                <a16:creationId xmlns:a16="http://schemas.microsoft.com/office/drawing/2014/main" id="{3F35B85C-93A0-47BC-9F86-A39D297A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6, 10-11, 27, 42</a:t>
            </a:r>
          </a:p>
        </p:txBody>
      </p:sp>
      <p:sp>
        <p:nvSpPr>
          <p:cNvPr id="3" name="text-59">
            <a:extLst xmlns:a="http://schemas.openxmlformats.org/drawingml/2006/main">
              <a:ext uri="{FF2B5EF4-FFF2-40B4-BE49-F238E27FC236}">
                <a16:creationId xmlns:a16="http://schemas.microsoft.com/office/drawing/2014/main" id="{543213C5-DE59-486D-BF3A-FEF41098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2a36bda4e4996"/>
          <a:stretch xmlns:a="http://schemas.openxmlformats.org/drawingml/2006/main"/>
        </p:blipFill>
        <p:spPr>
          <a:xfrm xmlns:a="http://schemas.openxmlformats.org/drawingml/2006/main">
            <a:off x="609600" y="1811948"/>
            <a:ext cx="5810250" cy="3634154"/>
          </a:xfrm>
          <a:prstGeom xmlns:a="http://schemas.openxmlformats.org/drawingml/2006/main" prst="rect">
            <a:avLst/>
          </a:prstGeom>
        </p:spPr>
      </p:pic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08CDB3F8-AC39-4566-A3BA-DD00AE7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Referência visual do projeto. A proteção depende da API.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2970CF3E-7212-4006-BD2D-20FAE4EC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764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Autorização</a:t>
            </a:r>
          </a:p>
        </p:txBody>
      </p:sp>
      <p:sp>
        <p:nvSpPr>
          <p:cNvPr id="7" name="text-62">
            <a:extLst xmlns:a="http://schemas.openxmlformats.org/drawingml/2006/main">
              <a:ext uri="{FF2B5EF4-FFF2-40B4-BE49-F238E27FC236}">
                <a16:creationId xmlns:a16="http://schemas.microsoft.com/office/drawing/2014/main" id="{B90BBAC1-FB9D-4881-9449-C5919CEC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4629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 API deve conferir papel, propriedade e participação em cada operação.</a:t>
            </a:r>
          </a:p>
        </p:txBody>
      </p:sp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8F7F1940-451A-4D55-9DF7-04954D25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Recusas</a:t>
            </a:r>
          </a:p>
        </p:txBody>
      </p:sp>
      <p:sp>
        <p:nvSpPr>
          <p:cNvPr id="9" name="text-64">
            <a:extLst xmlns:a="http://schemas.openxmlformats.org/drawingml/2006/main">
              <a:ext uri="{FF2B5EF4-FFF2-40B4-BE49-F238E27FC236}">
                <a16:creationId xmlns:a16="http://schemas.microsoft.com/office/drawing/2014/main" id="{E219A2C9-06A8-4BDC-8E66-7794155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CT08 tenta acessar recursos de terceiros. A API deve recusar e manter os dados.</a:t>
            </a:r>
          </a:p>
        </p:txBody>
      </p:sp>
      <p:sp>
        <p:nvSpPr>
          <p:cNvPr id="10" name="text-65">
            <a:extLst xmlns:a="http://schemas.openxmlformats.org/drawingml/2006/main">
              <a:ext uri="{FF2B5EF4-FFF2-40B4-BE49-F238E27FC236}">
                <a16:creationId xmlns:a16="http://schemas.microsoft.com/office/drawing/2014/main" id="{738906D8-8FE3-4B38-A713-EF117339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Contato</a:t>
            </a:r>
          </a:p>
        </p:txBody>
      </p:sp>
      <p:sp>
        <p:nvSpPr>
          <p:cNvPr id="11" name="text-66">
            <a:extLst xmlns:a="http://schemas.openxmlformats.org/drawingml/2006/main">
              <a:ext uri="{FF2B5EF4-FFF2-40B4-BE49-F238E27FC236}">
                <a16:creationId xmlns:a16="http://schemas.microsoft.com/office/drawing/2014/main" id="{3034E6C3-DD06-4864-B69F-4E8EC5CB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48275"/>
            <a:ext cx="4629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CT41 exige conexão ativa e autorização vigente do titular para compartilhar.</a:t>
            </a:r>
          </a:p>
        </p:txBody>
      </p:sp>
    </p:spTree>
    <p:extLst>
      <p:ext uri="{BB962C8B-B14F-4D97-AF65-F5344CB8AC3E}">
        <p14:creationId xmlns:p14="http://schemas.microsoft.com/office/powerpoint/2010/main" val="218515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7">
            <a:extLst xmlns:a="http://schemas.openxmlformats.org/drawingml/2006/main">
              <a:ext uri="{FF2B5EF4-FFF2-40B4-BE49-F238E27FC236}">
                <a16:creationId xmlns:a16="http://schemas.microsoft.com/office/drawing/2014/main" id="{D200C92B-1827-4769-80F3-0D1C982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Validação do matching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125AE3FA-D442-4232-921B-153AA889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14, 23, 32-34</a:t>
            </a:r>
          </a:p>
        </p:txBody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0AB5C3E5-294F-4914-A04F-C22BCA6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F7099BC2-E5E1-4A32-B6E2-5230FCCC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CT18: referência de mentoria S01/M01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6FBC590C-3A8D-4B8C-8BF3-D51C186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600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75 pontos ponderados</a:t>
            </a:r>
          </a:p>
          <a:p xmlns:a="http://schemas.openxmlformats.org/drawingml/2006/main">
            <a:pPr algn="l">
              <a:defRPr sz="2925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85 de peso aplicável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8CDCC402-364B-4423-944C-4F0E90A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100 × 75 ÷ 85 = 88,235294…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09FA7CD5-5F0C-4D25-94CB-E96C895B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9825"/>
            <a:ext cx="3143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660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88,2</a:t>
            </a:r>
          </a:p>
        </p:txBody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56071147-1E10-4742-855C-A665DE9D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81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Exibição esperada</a:t>
            </a:r>
          </a:p>
        </p:txBody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79F7BA0C-0394-451F-9ECC-73A86989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Contribuições: setor 25, estágio 15, necessidades 10 e disponibilidade 25.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30320773-8259-4ABB-A177-68E3AFF2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Localização remota e modelo sem preferência saem do denominador.</a:t>
            </a:r>
          </a:p>
          <a:p xmlns:a="http://schemas.openxmlformats.org/drawingml/2006/main">
            <a:pPr algn="l">
              <a:def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 explicação deve informar contribuições e versão match-1.0.</a:t>
            </a:r>
          </a:p>
        </p:txBody>
      </p:sp>
      <p:sp>
        <p:nvSpPr>
          <p:cNvPr id="11" name="text-77">
            <a:extLst xmlns:a="http://schemas.openxmlformats.org/drawingml/2006/main">
              <a:ext uri="{FF2B5EF4-FFF2-40B4-BE49-F238E27FC236}">
                <a16:creationId xmlns:a16="http://schemas.microsoft.com/office/drawing/2014/main" id="{75F26B95-FDB2-4DD2-9AE3-D003EAF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CT20: limite financeiro comum é elegível.</a:t>
            </a:r>
          </a:p>
          <a:p xmlns:a="http://schemas.openxmlformats.org/drawingml/2006/main">
            <a:pPr algn="l">
              <a:def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CT22: 59,96 fica abaixo do corte bruto de 60, mesmo arredondando para 60,0.</a:t>
            </a:r>
          </a:p>
        </p:txBody>
      </p:sp>
    </p:spTree>
    <p:extLst>
      <p:ext uri="{BB962C8B-B14F-4D97-AF65-F5344CB8AC3E}">
        <p14:creationId xmlns:p14="http://schemas.microsoft.com/office/powerpoint/2010/main" val="9225704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D4F0B54B-237B-4F05-A31C-3BAA1CDB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Conexões e reuniões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7820B03D-2E8B-4FCC-845D-CB7E1BA5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15, 35-40, 50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818A7663-5550-40F4-9844-DD50EAFA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E4DC2D2B-E910-423B-949D-929435D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Conexões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39B4F2A2-C23B-4D0C-B323-BC835373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006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Interesse unilateral não cria conexão.</a:t>
            </a:r>
          </a:p>
          <a:p xmlns:a="http://schemas.openxmlformats.org/drawingml/2006/main">
            <a:pPr algn="l">
              <a:def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Reciprocidade válida cria uma conexão ativa para o par.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2606AA10-FF65-4965-BF50-BE98A9B7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0006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CT27 dispara 20 pedidos equivalentes simultâneos.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Resultado esperado: uma conexão e um interesse ativo por direção.</a:t>
            </a:r>
          </a:p>
        </p:txBody>
      </p:sp>
      <p:sp>
        <p:nvSpPr>
          <p:cNvPr id="7" name="text-84">
            <a:extLst xmlns:a="http://schemas.openxmlformats.org/drawingml/2006/main">
              <a:ext uri="{FF2B5EF4-FFF2-40B4-BE49-F238E27FC236}">
                <a16:creationId xmlns:a16="http://schemas.microsoft.com/office/drawing/2014/main" id="{408F312A-1BD3-46A9-A64C-80DCB814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Reuniões</a:t>
            </a:r>
          </a:p>
        </p:txBody>
      </p:sp>
      <p:sp>
        <p:nvSpPr>
          <p:cNvPr id="8" name="text-85">
            <a:extLst xmlns:a="http://schemas.openxmlformats.org/drawingml/2006/main">
              <a:ext uri="{FF2B5EF4-FFF2-40B4-BE49-F238E27FC236}">
                <a16:creationId xmlns:a16="http://schemas.microsoft.com/office/drawing/2014/main" id="{E83A4AAA-C03C-4284-A2F5-83784AF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 conexão deve estar ativa.</a:t>
            </a:r>
          </a:p>
          <a:p xmlns:a="http://schemas.openxmlformats.org/drawingml/2006/main">
            <a:pPr algn="l">
              <a:def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 outra parte confirma ou recusa a proposta.</a:t>
            </a:r>
          </a:p>
        </p:txBody>
      </p:sp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04F6FA0B-8BE7-4CA3-8DE9-281EC86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51435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CT30 verifica horários e sobreposição.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CT33 recusa aceite pelo proponente.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CT34 exige novo aceite após alteração.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CT57 verifica agenda sob concorrência.</a:t>
            </a:r>
          </a:p>
        </p:txBody>
      </p:sp>
    </p:spTree>
    <p:extLst>
      <p:ext uri="{BB962C8B-B14F-4D97-AF65-F5344CB8AC3E}">
        <p14:creationId xmlns:p14="http://schemas.microsoft.com/office/powerpoint/2010/main" val="1779068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7">
            <a:extLst xmlns:a="http://schemas.openxmlformats.org/drawingml/2006/main">
              <a:ext uri="{FF2B5EF4-FFF2-40B4-BE49-F238E27FC236}">
                <a16:creationId xmlns:a16="http://schemas.microsoft.com/office/drawing/2014/main" id="{A008A93D-A6CB-492B-AF92-B5B04C86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Validação com usuários</a:t>
            </a:r>
          </a:p>
        </p:txBody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2F26CC11-8292-427D-B06A-F7C4C3BA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11, 49</a:t>
            </a:r>
          </a:p>
        </p:txBody>
      </p:sp>
      <p:sp>
        <p:nvSpPr>
          <p:cNvPr id="3" name="text-89">
            <a:extLst xmlns:a="http://schemas.openxmlformats.org/drawingml/2006/main">
              <a:ext uri="{FF2B5EF4-FFF2-40B4-BE49-F238E27FC236}">
                <a16:creationId xmlns:a16="http://schemas.microsoft.com/office/drawing/2014/main" id="{4E1E7CC3-B43C-4923-BF61-CEC4FC6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4" name="text-90">
            <a:extLst xmlns:a="http://schemas.openxmlformats.org/drawingml/2006/main">
              <a:ext uri="{FF2B5EF4-FFF2-40B4-BE49-F238E27FC236}">
                <a16:creationId xmlns:a16="http://schemas.microsoft.com/office/drawing/2014/main" id="{82C6FE55-7E82-4B16-B5B5-C3A64B0F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CT56: teste planejado com 5 fundadores do público prioritário</a:t>
            </a:r>
          </a:p>
        </p:txBody>
      </p:sp>
      <p:sp>
        <p:nvSpPr>
          <p:cNvPr id="5" name="text-91">
            <a:extLst xmlns:a="http://schemas.openxmlformats.org/drawingml/2006/main">
              <a:ext uri="{FF2B5EF4-FFF2-40B4-BE49-F238E27FC236}">
                <a16:creationId xmlns:a16="http://schemas.microsoft.com/office/drawing/2014/main" id="{B4521D07-A7F1-4C3F-B6A3-84CD4DB8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615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4 de 5</a:t>
            </a:r>
          </a:p>
        </p:txBody>
      </p:sp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AA7976C2-8AD3-4A3E-AD66-1D349C2C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participantes concluem a tarefa</a:t>
            </a:r>
          </a:p>
        </p:txBody>
      </p:sp>
      <p:sp>
        <p:nvSpPr>
          <p:cNvPr id="7" name="text-93">
            <a:extLst xmlns:a="http://schemas.openxmlformats.org/drawingml/2006/main">
              <a:ext uri="{FF2B5EF4-FFF2-40B4-BE49-F238E27FC236}">
                <a16:creationId xmlns:a16="http://schemas.microsoft.com/office/drawing/2014/main" id="{7B5CA296-EAB6-4BD8-A6A9-91072B6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6150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até 5 min</a:t>
            </a:r>
          </a:p>
        </p:txBody>
      </p:sp>
      <p:sp>
        <p:nvSpPr>
          <p:cNvPr id="8" name="text-94">
            <a:extLst xmlns:a="http://schemas.openxmlformats.org/drawingml/2006/main">
              <a:ext uri="{FF2B5EF4-FFF2-40B4-BE49-F238E27FC236}">
                <a16:creationId xmlns:a16="http://schemas.microsoft.com/office/drawing/2014/main" id="{1D67C44B-D91D-4314-B826-D5689BC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575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sem intervenção do avaliador</a:t>
            </a:r>
          </a:p>
        </p:txBody>
      </p:sp>
      <p:sp>
        <p:nvSpPr>
          <p:cNvPr id="9" name="text-95">
            <a:extLst xmlns:a="http://schemas.openxmlformats.org/drawingml/2006/main">
              <a:ext uri="{FF2B5EF4-FFF2-40B4-BE49-F238E27FC236}">
                <a16:creationId xmlns:a16="http://schemas.microsoft.com/office/drawing/2014/main" id="{32E35F52-B8AA-4441-9B86-795C5645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Tarefa: localizar apoio compatível e manifestar interesse.</a:t>
            </a:r>
          </a:p>
        </p:txBody>
      </p:sp>
      <p:sp>
        <p:nvSpPr>
          <p:cNvPr id="10" name="text-96">
            <a:extLst xmlns:a="http://schemas.openxmlformats.org/drawingml/2006/main">
              <a:ext uri="{FF2B5EF4-FFF2-40B4-BE49-F238E27FC236}">
                <a16:creationId xmlns:a16="http://schemas.microsoft.com/office/drawing/2014/main" id="{6F21A271-1264-44A7-AF3A-27B62F8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Registrar tempo, conclusão, dúvidas e obstáculos.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Perguntar o significado da pontuação e observar se há expectativa</a:t>
            </a:r>
          </a:p>
          <a:p xmlns:a="http://schemas.openxmlformats.org/drawingml/2006/main">
            <a:pPr algn="l">
              <a:def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de investimento garantido.</a:t>
            </a:r>
          </a:p>
        </p:txBody>
      </p:sp>
    </p:spTree>
    <p:extLst>
      <p:ext uri="{BB962C8B-B14F-4D97-AF65-F5344CB8AC3E}">
        <p14:creationId xmlns:p14="http://schemas.microsoft.com/office/powerpoint/2010/main" val="1293691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7">
            <a:extLst xmlns:a="http://schemas.openxmlformats.org/drawingml/2006/main">
              <a:ext uri="{FF2B5EF4-FFF2-40B4-BE49-F238E27FC236}">
                <a16:creationId xmlns:a16="http://schemas.microsoft.com/office/drawing/2014/main" id="{75246D68-AAEA-41A2-9170-892DBCA0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Metas iniciais de qualidade</a:t>
            </a:r>
          </a:p>
        </p:txBody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6A127CA2-1523-4CEC-92FA-B860C4CE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10-12, 44, 48-53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6F142565-8D4A-4929-A1C2-84B8493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62300"/>
                <a:gridCol w="7810500"/>
              </a:tblGrid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Atributo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ou condição de homologação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Pesquisa e matching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p95 até 3 s e 5 s, respectivamente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Carga de referência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500 perfis ou candidatos e 20 usuários concorrentes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Acessibilidade e telas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WCAG 2.2 A/AA aplicável e larguras de 360 a 1440 px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Recuperação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Perda máxima de 24 h e restauração em até 2 h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Entrega controlada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Gate aprovado e 80% de linhas no código novo, por módulo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2F7BFE64-9937-4553-AC19-30B09CE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Metas ainda não medidas. p95: 95% das medições ficam até esse valor.</a:t>
            </a:r>
          </a:p>
          <a:p xmlns:a="http://schemas.openxmlformats.org/drawingml/2006/main">
            <a:pPr algn="l">
              <a:def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Carga: 5 minutos após aquecimento, em ambiente identificado.</a:t>
            </a:r>
          </a:p>
        </p:txBody>
      </p:sp>
    </p:spTree>
    <p:extLst>
      <p:ext uri="{BB962C8B-B14F-4D97-AF65-F5344CB8AC3E}">
        <p14:creationId xmlns:p14="http://schemas.microsoft.com/office/powerpoint/2010/main" val="6352911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01">
            <a:extLst xmlns:a="http://schemas.openxmlformats.org/drawingml/2006/main">
              <a:ext uri="{FF2B5EF4-FFF2-40B4-BE49-F238E27FC236}">
                <a16:creationId xmlns:a16="http://schemas.microsoft.com/office/drawing/2014/main" id="{84D84D47-21E2-414B-91C7-3FC70EA7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Rastreabilidade e resultados esperados</a:t>
            </a:r>
          </a:p>
        </p:txBody>
      </p:sp>
      <p:sp>
        <p:nvSpPr>
          <p:cNvPr id="2" name="text-102">
            <a:extLst xmlns:a="http://schemas.openxmlformats.org/drawingml/2006/main">
              <a:ext uri="{FF2B5EF4-FFF2-40B4-BE49-F238E27FC236}">
                <a16:creationId xmlns:a16="http://schemas.microsoft.com/office/drawing/2014/main" id="{0AEE90C8-8969-49B0-A656-5D33751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32, 36, 57-58, 61-66</a:t>
            </a:r>
          </a:p>
        </p:txBody>
      </p:sp>
      <p:sp>
        <p:nvSpPr>
          <p:cNvPr id="3" name="text-103">
            <a:extLst xmlns:a="http://schemas.openxmlformats.org/drawingml/2006/main">
              <a:ext uri="{FF2B5EF4-FFF2-40B4-BE49-F238E27FC236}">
                <a16:creationId xmlns:a16="http://schemas.microsoft.com/office/drawing/2014/main" id="{5F5AE071-0026-40B4-9FF9-F779D22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13</a:t>
            </a:r>
          </a:p>
        </p:txBody>
      </p:sp>
      <p:sp>
        <p:nvSpPr>
          <p:cNvPr id="4" name="text-104">
            <a:extLst xmlns:a="http://schemas.openxmlformats.org/drawingml/2006/main">
              <a:ext uri="{FF2B5EF4-FFF2-40B4-BE49-F238E27FC236}">
                <a16:creationId xmlns:a16="http://schemas.microsoft.com/office/drawing/2014/main" id="{5B9AEFF2-BDB2-4B27-957D-008D740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Cada comportamento mantém vínculo com regra, aceite e caso de teste.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67075"/>
                <a:gridCol w="2133600"/>
                <a:gridCol w="2238375"/>
                <a:gridCol w="1619250"/>
                <a:gridCol w="1714500"/>
              </a:tblGrid>
              <a:tr h="68580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Comportamento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Requisito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Regra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Aceite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Caso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Mentoria explicada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RF16, RF18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RN15-RN17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CT18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Conexão recíproca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RF23, RF24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RN22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CA19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CT27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68580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Aceite da reunião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RF27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RN24, RN27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CT33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65A2B8E6-5579-4F54-8BAD-21505293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Cada execução registra versão, ambiente, massa, esperado e obtido.</a:t>
            </a:r>
          </a:p>
          <a:p xmlns:a="http://schemas.openxmlformats.org/drawingml/2006/main">
            <a:pPr algn="l">
              <a:def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Status, evidência e eventual defeito ficam vinculados ao caso.</a:t>
            </a:r>
          </a:p>
        </p:txBody>
      </p:sp>
    </p:spTree>
    <p:extLst>
      <p:ext uri="{BB962C8B-B14F-4D97-AF65-F5344CB8AC3E}">
        <p14:creationId xmlns:p14="http://schemas.microsoft.com/office/powerpoint/2010/main" val="11168986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06">
            <a:extLst xmlns:a="http://schemas.openxmlformats.org/drawingml/2006/main">
              <a:ext uri="{FF2B5EF4-FFF2-40B4-BE49-F238E27FC236}">
                <a16:creationId xmlns:a16="http://schemas.microsoft.com/office/drawing/2014/main" id="{E3A5A974-2F5B-4295-BBFF-C0309A5A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Sequência de execução</a:t>
            </a:r>
          </a:p>
        </p:txBody>
      </p:sp>
      <p:sp>
        <p:nvSpPr>
          <p:cNvPr id="2" name="text-107">
            <a:extLst xmlns:a="http://schemas.openxmlformats.org/drawingml/2006/main">
              <a:ext uri="{FF2B5EF4-FFF2-40B4-BE49-F238E27FC236}">
                <a16:creationId xmlns:a16="http://schemas.microsoft.com/office/drawing/2014/main" id="{6AF1687A-C179-4F33-B06C-A9FD8F09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20-24, 67-68</a:t>
            </a:r>
          </a:p>
        </p:txBody>
      </p:sp>
      <p:sp>
        <p:nvSpPr>
          <p:cNvPr id="3" name="text-108">
            <a:extLst xmlns:a="http://schemas.openxmlformats.org/drawingml/2006/main">
              <a:ext uri="{FF2B5EF4-FFF2-40B4-BE49-F238E27FC236}">
                <a16:creationId xmlns:a16="http://schemas.microsoft.com/office/drawing/2014/main" id="{2D6D4CBC-CB60-47E5-9FF6-F7CD9C1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57575"/>
                <a:gridCol w="7515225"/>
              </a:tblGrid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Rodada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Foco previsto</a:t>
                      </a:r>
                    </a:p>
                  </a:txBody>
                  <a:tcPr marL="91440" marR="91440" marT="45720" marB="45720" anchor="ctr">
                    <a:solidFill>
                      <a:srgbClr val="142D43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R0: preparação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Requisitos, contratos, massa, permissões e ambiente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R1: primeiro fluxo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CT05, CT09, CT18, CT24 e CT27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R2: recusas e agenda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CT06, CT08, CT29, CT30 e CT33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R3: complementação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Demais casos funcionais, indicadores e privacidade</a:t>
                      </a:r>
                    </a:p>
                  </a:txBody>
                  <a:tcPr marL="91440" marR="91440" marT="45720" marB="45720" anchor="ctr">
                    <a:solidFill>
                      <a:srgbClr val="F0F7F8"/>
                    </a:solidFill>
                  </a:tcPr>
                </a:tc>
              </a:tr>
              <a:tr h="666750"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R4: qualidade transversal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071B3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CT45 a CT65, conforme as dependências disponíveis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109">
            <a:extLst xmlns:a="http://schemas.openxmlformats.org/drawingml/2006/main">
              <a:ext uri="{FF2B5EF4-FFF2-40B4-BE49-F238E27FC236}">
                <a16:creationId xmlns:a16="http://schemas.microsoft.com/office/drawing/2014/main" id="{475481A7-E633-4A16-88B7-4670279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R1 cobre autenticação, publicação, matching, interesse e reciprocidade.</a:t>
            </a:r>
          </a:p>
          <a:p xmlns:a="http://schemas.openxmlformats.org/drawingml/2006/main">
            <a:pPr algn="l">
              <a:defRPr sz="172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O início depende de módulo implementado, versão e massa identificadas.</a:t>
            </a:r>
          </a:p>
        </p:txBody>
      </p:sp>
    </p:spTree>
    <p:extLst>
      <p:ext uri="{BB962C8B-B14F-4D97-AF65-F5344CB8AC3E}">
        <p14:creationId xmlns:p14="http://schemas.microsoft.com/office/powerpoint/2010/main" val="132331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0C8844BA-75BE-465D-9296-1583F7EA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Situação registrada na revisão</a:t>
            </a:r>
          </a:p>
        </p:txBody>
      </p:sp>
      <p:sp>
        <p:nvSpPr>
          <p:cNvPr id="2" name="text-111">
            <a:extLst xmlns:a="http://schemas.openxmlformats.org/drawingml/2006/main">
              <a:ext uri="{FF2B5EF4-FFF2-40B4-BE49-F238E27FC236}">
                <a16:creationId xmlns:a16="http://schemas.microsoft.com/office/drawing/2014/main" id="{90B42A5B-4B6D-4C43-8575-6F17B02D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CECDC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8CECDC"/>
                </a:solidFill>
                <a:latin typeface="Nimbus Sans"/>
                <a:ea typeface="Nimbus Sans"/>
                <a:cs typeface="Nimbus Sans"/>
              </a:rPr>
              <a:t>Fonte: DAMATCH-PTQ-001 v1.0, p. 5, 66-68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EB4E5D69-BDCF-4BF5-8CC0-E20E07F9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CECDC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8CECDC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4" name="text-113">
            <a:extLst xmlns:a="http://schemas.openxmlformats.org/drawingml/2006/main">
              <a:ext uri="{FF2B5EF4-FFF2-40B4-BE49-F238E27FC236}">
                <a16:creationId xmlns:a16="http://schemas.microsoft.com/office/drawing/2014/main" id="{971A005D-49FD-427F-A322-6E0D55F0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8CECDC"/>
                </a:solidFill>
                <a:latin typeface="Nimbus Sans"/>
                <a:ea typeface="Nimbus Sans"/>
                <a:cs typeface="Nimbus Sans"/>
              </a:defRPr>
            </a:pPr>
            <a:r>
              <a:rPr sz="6900" b="1">
                <a:solidFill>
                  <a:srgbClr val="8CECDC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5" name="text-114">
            <a:extLst xmlns:a="http://schemas.openxmlformats.org/drawingml/2006/main">
              <a:ext uri="{FF2B5EF4-FFF2-40B4-BE49-F238E27FC236}">
                <a16:creationId xmlns:a16="http://schemas.microsoft.com/office/drawing/2014/main" id="{4A09B62D-5334-4FDA-8A03-F2F8E915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casos executados</a:t>
            </a:r>
          </a:p>
        </p:txBody>
      </p:sp>
      <p:sp>
        <p:nvSpPr>
          <p:cNvPr id="6" name="text-115">
            <a:extLst xmlns:a="http://schemas.openxmlformats.org/drawingml/2006/main">
              <a:ext uri="{FF2B5EF4-FFF2-40B4-BE49-F238E27FC236}">
                <a16:creationId xmlns:a16="http://schemas.microsoft.com/office/drawing/2014/main" id="{C9125C4C-DE82-483E-A385-66624EFB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8CECDC"/>
                </a:solidFill>
                <a:latin typeface="Nimbus Sans"/>
                <a:ea typeface="Nimbus Sans"/>
                <a:cs typeface="Nimbus Sans"/>
              </a:defRPr>
            </a:pPr>
            <a:r>
              <a:rPr sz="6900" b="1">
                <a:solidFill>
                  <a:srgbClr val="8CECDC"/>
                </a:solidFill>
                <a:latin typeface="Nimbus Sans"/>
                <a:ea typeface="Nimbus Sans"/>
                <a:cs typeface="Nimbus Sans"/>
              </a:rPr>
              <a:t>65</a:t>
            </a:r>
          </a:p>
        </p:txBody>
      </p:sp>
      <p:sp>
        <p:nvSpPr>
          <p:cNvPr id="7" name="text-116">
            <a:extLst xmlns:a="http://schemas.openxmlformats.org/drawingml/2006/main">
              <a:ext uri="{FF2B5EF4-FFF2-40B4-BE49-F238E27FC236}">
                <a16:creationId xmlns:a16="http://schemas.microsoft.com/office/drawing/2014/main" id="{F6388D6B-6206-49CC-8637-C8DBE6ED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337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casos não executados</a:t>
            </a:r>
          </a:p>
        </p:txBody>
      </p:sp>
      <p:sp>
        <p:nvSpPr>
          <p:cNvPr id="8" name="text-117">
            <a:extLst xmlns:a="http://schemas.openxmlformats.org/drawingml/2006/main">
              <a:ext uri="{FF2B5EF4-FFF2-40B4-BE49-F238E27FC236}">
                <a16:creationId xmlns:a16="http://schemas.microsoft.com/office/drawing/2014/main" id="{D2E9DC14-F215-4A56-8DD6-C08ED018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5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 revisão de 05/10/2026 encontrou uma base estrutural,</a:t>
            </a:r>
          </a:p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sem versão integrada da jornada de negócio.</a:t>
            </a:r>
          </a:p>
        </p:txBody>
      </p:sp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17EB66E8-63EE-4E96-918C-ABA78490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4E7ED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D4E7ED"/>
                </a:solidFill>
                <a:latin typeface="Nimbus Sans"/>
                <a:ea typeface="Nimbus Sans"/>
                <a:cs typeface="Nimbus Sans"/>
              </a:rPr>
              <a:t>Observações documentais: origem ampla no CORS, saúde sem checagem</a:t>
            </a:r>
          </a:p>
          <a:p xmlns:a="http://schemas.openxmlformats.org/drawingml/2006/main">
            <a:pPr algn="l">
              <a:defRPr sz="2025" b="0">
                <a:solidFill>
                  <a:srgbClr val="D4E7ED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D4E7ED"/>
                </a:solidFill>
                <a:latin typeface="Nimbus Sans"/>
                <a:ea typeface="Nimbus Sans"/>
                <a:cs typeface="Nimbus Sans"/>
              </a:rPr>
              <a:t>das dependências e módulos de identidade e persistência pendentes.</a:t>
            </a:r>
          </a:p>
        </p:txBody>
      </p:sp>
    </p:spTree>
    <p:extLst>
      <p:ext uri="{BB962C8B-B14F-4D97-AF65-F5344CB8AC3E}">
        <p14:creationId xmlns:p14="http://schemas.microsoft.com/office/powerpoint/2010/main" val="6853849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9">
            <a:extLst xmlns:a="http://schemas.openxmlformats.org/drawingml/2006/main">
              <a:ext uri="{FF2B5EF4-FFF2-40B4-BE49-F238E27FC236}">
                <a16:creationId xmlns:a16="http://schemas.microsoft.com/office/drawing/2014/main" id="{FEB1287A-D59F-4CF9-8F33-8F3C7EEC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Critérios de aceite e próximos passos</a:t>
            </a:r>
          </a:p>
        </p:txBody>
      </p:sp>
      <p:sp>
        <p:nvSpPr>
          <p:cNvPr id="2" name="text-120">
            <a:extLst xmlns:a="http://schemas.openxmlformats.org/drawingml/2006/main">
              <a:ext uri="{FF2B5EF4-FFF2-40B4-BE49-F238E27FC236}">
                <a16:creationId xmlns:a16="http://schemas.microsoft.com/office/drawing/2014/main" id="{DC8A1517-0C9A-49C2-911E-B2A100D2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Fonte: DAMATCH-PTQ-001 v1.0, p. 21, 24, 68-69</a:t>
            </a:r>
          </a:p>
        </p:txBody>
      </p:sp>
      <p:sp>
        <p:nvSpPr>
          <p:cNvPr id="3" name="text-121">
            <a:extLst xmlns:a="http://schemas.openxmlformats.org/drawingml/2006/main">
              <a:ext uri="{FF2B5EF4-FFF2-40B4-BE49-F238E27FC236}">
                <a16:creationId xmlns:a16="http://schemas.microsoft.com/office/drawing/2014/main" id="{BB509493-6AC5-4CF5-ABE6-15298E7C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16</a:t>
            </a:r>
          </a:p>
        </p:txBody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E5A174DD-356C-4765-8354-77E2F58A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Condições de aceite</a:t>
            </a:r>
          </a:p>
        </p:txBody>
      </p:sp>
      <p:sp>
        <p:nvSpPr>
          <p:cNvPr id="5" name="text-123">
            <a:extLst xmlns:a="http://schemas.openxmlformats.org/drawingml/2006/main">
              <a:ext uri="{FF2B5EF4-FFF2-40B4-BE49-F238E27FC236}">
                <a16:creationId xmlns:a16="http://schemas.microsoft.com/office/drawing/2014/main" id="{AD5B2100-993F-4D09-9D24-7C3D263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00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Casos selecionados com evidências.</a:t>
            </a:r>
          </a:p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Todos os P1 críticos aprovados.</a:t>
            </a:r>
          </a:p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Nenhum defeito crítico ou alto aberto.</a:t>
            </a:r>
          </a:p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Correções retestadas e regressão afetada concluída.</a:t>
            </a:r>
          </a:p>
        </p:txBody>
      </p:sp>
      <p:sp>
        <p:nvSpPr>
          <p:cNvPr id="6" name="text-124">
            <a:extLst xmlns:a="http://schemas.openxmlformats.org/drawingml/2006/main">
              <a:ext uri="{FF2B5EF4-FFF2-40B4-BE49-F238E27FC236}">
                <a16:creationId xmlns:a16="http://schemas.microsoft.com/office/drawing/2014/main" id="{BE5C31BF-E9D5-49DF-95D7-FD9B2034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58A"/>
                </a:solidFill>
                <a:latin typeface="Nimbus Sans"/>
                <a:ea typeface="Nimbus Sans"/>
                <a:cs typeface="Nimbus Sans"/>
              </a:rPr>
              <a:t>Pendências antes da rodada</a:t>
            </a:r>
          </a:p>
        </p:txBody>
      </p:sp>
      <p:sp>
        <p:nvSpPr>
          <p:cNvPr id="7" name="text-125">
            <a:extLst xmlns:a="http://schemas.openxmlformats.org/drawingml/2006/main">
              <a:ext uri="{FF2B5EF4-FFF2-40B4-BE49-F238E27FC236}">
                <a16:creationId xmlns:a16="http://schemas.microsoft.com/office/drawing/2014/main" id="{0E52DCAA-0F23-4F9E-B0D8-0A6B2881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Aprovar a configuração do matching.</a:t>
            </a:r>
          </a:p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Definir sessão e contratos da API.</a:t>
            </a:r>
          </a:p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Integrar ambiente e massa de teste.</a:t>
            </a:r>
          </a:p>
          <a:p xmlns:a="http://schemas.openxmlformats.org/drawingml/2006/main">
            <a:pPr algn="l">
              <a:def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Preparar a validação com o público.</a:t>
            </a:r>
          </a:p>
        </p:txBody>
      </p:sp>
      <p:sp>
        <p:nvSpPr>
          <p:cNvPr id="8" name="text-126">
            <a:extLst xmlns:a="http://schemas.openxmlformats.org/drawingml/2006/main">
              <a:ext uri="{FF2B5EF4-FFF2-40B4-BE49-F238E27FC236}">
                <a16:creationId xmlns:a16="http://schemas.microsoft.com/office/drawing/2014/main" id="{7E2E5843-87C5-49E2-9F22-E42E7CF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Aceite do fluxo exige evidências e revisão do responsável de produto.</a:t>
            </a:r>
          </a:p>
          <a:p xmlns:a="http://schemas.openxmlformats.org/drawingml/2006/main">
            <a:pPr algn="l">
              <a:defRPr sz="2175" b="1">
                <a:solidFill>
                  <a:srgbClr val="071B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71B31"/>
                </a:solidFill>
                <a:latin typeface="Nimbus Sans"/>
                <a:ea typeface="Nimbus Sans"/>
                <a:cs typeface="Nimbus Sans"/>
              </a:rPr>
              <a:t>A conclusão documental desta unidade antecede a homologação do software.</a:t>
            </a:r>
          </a:p>
        </p:txBody>
      </p:sp>
      <p:sp>
        <p:nvSpPr>
          <p:cNvPr id="9" name="text-127">
            <a:extLst xmlns:a="http://schemas.openxmlformats.org/drawingml/2006/main">
              <a:ext uri="{FF2B5EF4-FFF2-40B4-BE49-F238E27FC236}">
                <a16:creationId xmlns:a16="http://schemas.microsoft.com/office/drawing/2014/main" id="{7643B47E-7613-498E-8C6E-7F2CF4BD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Equipe: Diogo Barbosa, Mário Brandão, Davi Maia,</a:t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0677D"/>
                </a:solidFill>
                <a:latin typeface="Nimbus Sans"/>
                <a:ea typeface="Nimbus Sans"/>
                <a:cs typeface="Nimbus Sans"/>
              </a:rPr>
              <a:t>Christopher Lindoso e Nikolas Messias</a:t>
            </a:r>
          </a:p>
        </p:txBody>
      </p:sp>
    </p:spTree>
    <p:extLst>
      <p:ext uri="{BB962C8B-B14F-4D97-AF65-F5344CB8AC3E}">
        <p14:creationId xmlns:p14="http://schemas.microsoft.com/office/powerpoint/2010/main" val="1841575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2026-10-06T18:42:06.6090000Z</dcterms:created>
  <dcterms:modified xsi:type="dcterms:W3CDTF">2026-10-06T18:42:06.6090000Z</dcterms:modified>
</coreProperties>
</file>